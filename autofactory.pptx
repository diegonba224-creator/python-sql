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1250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85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D4845A"/>
          </a:solidFill>
          <a:ln w="12700">
            <a:solidFill>
              <a:srgbClr val="D484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6217920" y="-1097280"/>
            <a:ext cx="4114800" cy="4114800"/>
          </a:xfrm>
          <a:prstGeom prst="ellipse">
            <a:avLst/>
          </a:prstGeom>
          <a:solidFill>
            <a:srgbClr val="D4845A">
              <a:alpha val="28000"/>
            </a:srgbClr>
          </a:solidFill>
          <a:ln w="12700">
            <a:solidFill>
              <a:srgbClr val="D4845A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6858000" y="-457200"/>
            <a:ext cx="2926080" cy="2926080"/>
          </a:xfrm>
          <a:prstGeom prst="ellipse">
            <a:avLst/>
          </a:prstGeom>
          <a:solidFill>
            <a:srgbClr val="F2C6A0">
              <a:alpha val="45000"/>
            </a:srgbClr>
          </a:solidFill>
          <a:ln w="12700">
            <a:solidFill>
              <a:srgbClr val="F2C6A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6309360" y="1463040"/>
            <a:ext cx="2286000" cy="777240"/>
          </a:xfrm>
          <a:prstGeom prst="roundRect">
            <a:avLst>
              <a:gd name="adj" fmla="val 17647"/>
            </a:avLst>
          </a:prstGeom>
          <a:solidFill>
            <a:srgbClr val="E7E8D1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675120" y="1051560"/>
            <a:ext cx="1554480" cy="594360"/>
          </a:xfrm>
          <a:prstGeom prst="roundRect">
            <a:avLst>
              <a:gd name="adj" fmla="val 18462"/>
            </a:avLst>
          </a:prstGeom>
          <a:solidFill>
            <a:srgbClr val="E7E8D1">
              <a:alpha val="7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AUTOFACTORY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2C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Automotriz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3200400" cy="36576"/>
          </a:xfrm>
          <a:prstGeom prst="rect">
            <a:avLst/>
          </a:prstGeom>
          <a:solidFill>
            <a:srgbClr val="F2C6A0"/>
          </a:solidFill>
          <a:ln w="12700">
            <a:solidFill>
              <a:srgbClr val="F2C6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548640" y="2514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del Proyecto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1234440" cy="347472"/>
          </a:xfrm>
          <a:prstGeom prst="roundRect">
            <a:avLst>
              <a:gd name="adj" fmla="val 39474"/>
            </a:avLst>
          </a:prstGeom>
          <a:solidFill>
            <a:srgbClr val="D4845A">
              <a:alpha val="7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548640" y="4096512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965960" y="4114800"/>
            <a:ext cx="1234440" cy="347472"/>
          </a:xfrm>
          <a:prstGeom prst="roundRect">
            <a:avLst>
              <a:gd name="adj" fmla="val 39474"/>
            </a:avLst>
          </a:prstGeom>
          <a:solidFill>
            <a:srgbClr val="D4845A">
              <a:alpha val="7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1965960" y="4096512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83280" y="4114800"/>
            <a:ext cx="1234440" cy="347472"/>
          </a:xfrm>
          <a:prstGeom prst="roundRect">
            <a:avLst>
              <a:gd name="adj" fmla="val 39474"/>
            </a:avLst>
          </a:prstGeom>
          <a:solidFill>
            <a:srgbClr val="D4845A">
              <a:alpha val="7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3383280" y="4096512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4114800"/>
            <a:ext cx="1234440" cy="347472"/>
          </a:xfrm>
          <a:prstGeom prst="roundRect">
            <a:avLst>
              <a:gd name="adj" fmla="val 39474"/>
            </a:avLst>
          </a:prstGeom>
          <a:solidFill>
            <a:srgbClr val="D4845A">
              <a:alpha val="7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800600" y="4096512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4114800"/>
            <a:ext cx="1234440" cy="347472"/>
          </a:xfrm>
          <a:prstGeom prst="roundRect">
            <a:avLst>
              <a:gd name="adj" fmla="val 39474"/>
            </a:avLst>
          </a:prstGeom>
          <a:solidFill>
            <a:srgbClr val="D4845A">
              <a:alpha val="7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217920" y="4096512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6B4226">
              <a:alpha val="70000"/>
            </a:srgbClr>
          </a:solidFill>
          <a:ln w="12700">
            <a:solidFill>
              <a:srgbClr val="6B422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256032" y="0"/>
            <a:ext cx="8887968" cy="1005840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502920" y="16459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Propósito y Objetivos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3749040" cy="3474720"/>
          </a:xfrm>
          <a:prstGeom prst="rect">
            <a:avLst/>
          </a:prstGeom>
          <a:solidFill>
            <a:srgbClr val="FFFAF4"/>
          </a:solidFill>
          <a:ln w="12700">
            <a:solidFill>
              <a:srgbClr val="F2C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502920" y="1143000"/>
            <a:ext cx="3749040" cy="32918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502920" y="114300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572768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Autofactory es un sistema de escritorio desarrollado en Python con interfaz gráfica (Tkinter) para gestionar los procesos clave de una planta automotriz: modelos, líneas de producción, componentes y órdenes de fabricación.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17720" y="1143000"/>
            <a:ext cx="4160520" cy="3474720"/>
          </a:xfrm>
          <a:prstGeom prst="rect">
            <a:avLst/>
          </a:prstGeom>
          <a:solidFill>
            <a:srgbClr val="FFFAF4"/>
          </a:solidFill>
          <a:ln w="12700">
            <a:solidFill>
              <a:srgbClr val="F2C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617720" y="1143000"/>
            <a:ext cx="4160520" cy="329184"/>
          </a:xfrm>
          <a:prstGeom prst="rect">
            <a:avLst/>
          </a:prstGeom>
          <a:solidFill>
            <a:srgbClr val="D4845A"/>
          </a:solidFill>
          <a:ln w="12700">
            <a:solidFill>
              <a:srgbClr val="D484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617720" y="1143000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636776"/>
            <a:ext cx="201168" cy="201168"/>
          </a:xfrm>
          <a:prstGeom prst="ellipse">
            <a:avLst/>
          </a:prstGeom>
          <a:solidFill>
            <a:srgbClr val="D4845A"/>
          </a:solidFill>
          <a:ln w="12700">
            <a:solidFill>
              <a:srgbClr val="D484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983480" y="1572768"/>
            <a:ext cx="36393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Centralizar la gestión de datos automotrices en una sola aplicación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2167128"/>
            <a:ext cx="201168" cy="201168"/>
          </a:xfrm>
          <a:prstGeom prst="ellipse">
            <a:avLst/>
          </a:prstGeom>
          <a:solidFill>
            <a:srgbClr val="D4845A"/>
          </a:solidFill>
          <a:ln w="12700">
            <a:solidFill>
              <a:srgbClr val="D484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983480" y="2103120"/>
            <a:ext cx="36393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operaciones CRUD vinculadas a Stored Procedures </a:t>
            </a:r>
            <a:r>
              <a:rPr lang="en-US" sz="1200" dirty="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MySQL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697480"/>
            <a:ext cx="201168" cy="201168"/>
          </a:xfrm>
          <a:prstGeom prst="ellipse">
            <a:avLst/>
          </a:prstGeom>
          <a:solidFill>
            <a:srgbClr val="D4845A"/>
          </a:solidFill>
          <a:ln w="12700">
            <a:solidFill>
              <a:srgbClr val="D484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4983480" y="2633472"/>
            <a:ext cx="36393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Proveer una interfaz intuitiva con pestañas por módulo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3227832"/>
            <a:ext cx="201168" cy="201168"/>
          </a:xfrm>
          <a:prstGeom prst="ellipse">
            <a:avLst/>
          </a:prstGeom>
          <a:solidFill>
            <a:srgbClr val="D4845A"/>
          </a:solidFill>
          <a:ln w="12700">
            <a:solidFill>
              <a:srgbClr val="D484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983480" y="3163824"/>
            <a:ext cx="36393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la integridad de datos entre módulos relacionados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758184"/>
            <a:ext cx="201168" cy="201168"/>
          </a:xfrm>
          <a:prstGeom prst="ellipse">
            <a:avLst/>
          </a:prstGeom>
          <a:solidFill>
            <a:srgbClr val="D4845A"/>
          </a:solidFill>
          <a:ln w="12700">
            <a:solidFill>
              <a:srgbClr val="D484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983480" y="3694176"/>
            <a:ext cx="36393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Facilitar el seguimiento de órdenes de producción en tiempo real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274320" y="4965192"/>
            <a:ext cx="859536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AUTOFACTORY  |  Sistema de Gestión Automotriz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D4845A"/>
          </a:solidFill>
          <a:ln w="12700">
            <a:solidFill>
              <a:srgbClr val="D484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256032" y="0"/>
            <a:ext cx="8887968" cy="1005840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502920" y="16459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84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Problemática que Resuelve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8046720" cy="685800"/>
          </a:xfrm>
          <a:prstGeom prst="rect">
            <a:avLst/>
          </a:prstGeom>
          <a:solidFill>
            <a:srgbClr val="F2C6A0">
              <a:alpha val="70000"/>
            </a:srgbClr>
          </a:solidFill>
          <a:ln w="12700">
            <a:solidFill>
              <a:srgbClr val="F2C6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plantas automotrices pequeñas y medianas enfrentan desorganización, pérdida de datos y falta de trazabilidad en su proceso productivo.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938528"/>
            <a:ext cx="3840480" cy="1115568"/>
          </a:xfrm>
          <a:prstGeom prst="rect">
            <a:avLst/>
          </a:prstGeom>
          <a:solidFill>
            <a:srgbClr val="FFFAF4"/>
          </a:solidFill>
          <a:ln w="12700">
            <a:solidFill>
              <a:srgbClr val="F2C6A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502920" y="1938528"/>
            <a:ext cx="73152" cy="111556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667512" y="202996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Datos Dispersos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7512" y="2322576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de modelos, componentes y órdenes registrada en hojas de cálculo o papel sin centralización.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17720" y="1938528"/>
            <a:ext cx="3840480" cy="1115568"/>
          </a:xfrm>
          <a:prstGeom prst="rect">
            <a:avLst/>
          </a:prstGeom>
          <a:solidFill>
            <a:srgbClr val="FFFAF4"/>
          </a:solidFill>
          <a:ln w="12700">
            <a:solidFill>
              <a:srgbClr val="F2C6A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4617720" y="1938528"/>
            <a:ext cx="73152" cy="111556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782312" y="202996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 Trazabilidad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82312" y="2322576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Imposible rastrear qué componentes pertenecen a qué modelo o en qué línea se está fabricando cada orden.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291840"/>
            <a:ext cx="3840480" cy="1115568"/>
          </a:xfrm>
          <a:prstGeom prst="rect">
            <a:avLst/>
          </a:prstGeom>
          <a:solidFill>
            <a:srgbClr val="FFFAF4"/>
          </a:solidFill>
          <a:ln w="12700">
            <a:solidFill>
              <a:srgbClr val="F2C6A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502920" y="3291840"/>
            <a:ext cx="73152" cy="111556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667512" y="338328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Errores Operativos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12" y="3675888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 manual de inventarios y órdenes propensa a errores que impactan la producción.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17720" y="3291840"/>
            <a:ext cx="3840480" cy="1115568"/>
          </a:xfrm>
          <a:prstGeom prst="rect">
            <a:avLst/>
          </a:prstGeom>
          <a:solidFill>
            <a:srgbClr val="FFFAF4"/>
          </a:solidFill>
          <a:ln w="12700">
            <a:solidFill>
              <a:srgbClr val="F2C6A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4617720" y="3291840"/>
            <a:ext cx="73152" cy="111556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782312" y="338328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Falta de Integridad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82312" y="3675888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relaciones formales entre módulos, un cambio en un modelo no se refleja automáticamente en las órdenes.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D4845A"/>
          </a:solidFill>
          <a:ln w="12700">
            <a:solidFill>
              <a:srgbClr val="D484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274320" y="4965192"/>
            <a:ext cx="859536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AUTOFACTORY  |  Sistema de Gestión Automotriz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256032" y="0"/>
            <a:ext cx="8887968" cy="1005840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502920" y="16459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Tecnologías Utilizadas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2633472" cy="1508760"/>
          </a:xfrm>
          <a:prstGeom prst="rect">
            <a:avLst/>
          </a:prstGeom>
          <a:solidFill>
            <a:srgbClr val="FFFAF4"/>
          </a:solidFill>
          <a:ln w="12700">
            <a:solidFill>
              <a:srgbClr val="F2C6A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502920" y="1143000"/>
            <a:ext cx="2633472" cy="2926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594360" y="1143000"/>
            <a:ext cx="2450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472184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principal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728216"/>
            <a:ext cx="245059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negocio, controladores, manejo de eventos y conexión con base de datos.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64992" y="1143000"/>
            <a:ext cx="2633472" cy="1508760"/>
          </a:xfrm>
          <a:prstGeom prst="rect">
            <a:avLst/>
          </a:prstGeom>
          <a:solidFill>
            <a:srgbClr val="FFFAF4"/>
          </a:solidFill>
          <a:ln w="12700">
            <a:solidFill>
              <a:srgbClr val="F2C6A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3364992" y="1143000"/>
            <a:ext cx="2633472" cy="292608"/>
          </a:xfrm>
          <a:prstGeom prst="rect">
            <a:avLst/>
          </a:prstGeom>
          <a:solidFill>
            <a:srgbClr val="D4845A"/>
          </a:solidFill>
          <a:ln w="12700">
            <a:solidFill>
              <a:srgbClr val="D484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456432" y="1143000"/>
            <a:ext cx="2450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/ ttk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56432" y="1472184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D48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Gráfica (GUI)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56432" y="1728216"/>
            <a:ext cx="245059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principal, sistema de pestañas (Notebook), formularios, botones y Comboboxes.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1143000"/>
            <a:ext cx="2633472" cy="1508760"/>
          </a:xfrm>
          <a:prstGeom prst="rect">
            <a:avLst/>
          </a:prstGeom>
          <a:solidFill>
            <a:srgbClr val="FFFAF4"/>
          </a:solidFill>
          <a:ln w="12700">
            <a:solidFill>
              <a:srgbClr val="F2C6A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6217920" y="1143000"/>
            <a:ext cx="2633472" cy="292608"/>
          </a:xfrm>
          <a:prstGeom prst="rect">
            <a:avLst/>
          </a:prstGeom>
          <a:solidFill>
            <a:srgbClr val="7B5E3A"/>
          </a:solidFill>
          <a:ln w="12700">
            <a:solidFill>
              <a:srgbClr val="7B5E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6309360" y="1143000"/>
            <a:ext cx="2450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1472184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7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1728216"/>
            <a:ext cx="245059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local con tablas relacionadas y Stored Procedures para operaciones CRUD.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2834640"/>
            <a:ext cx="2633472" cy="1508760"/>
          </a:xfrm>
          <a:prstGeom prst="rect">
            <a:avLst/>
          </a:prstGeom>
          <a:solidFill>
            <a:srgbClr val="FFFAF4"/>
          </a:solidFill>
          <a:ln w="12700">
            <a:solidFill>
              <a:srgbClr val="F2C6A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502920" y="2834640"/>
            <a:ext cx="2633472" cy="292608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594360" y="2834640"/>
            <a:ext cx="2450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3163824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6B4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Datos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" y="3419856"/>
            <a:ext cx="245059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Procedimientos almacenados que encapsulan las operaciones INSERT, SELECT, UPDATE y DELETE.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64992" y="2834640"/>
            <a:ext cx="2633472" cy="1508760"/>
          </a:xfrm>
          <a:prstGeom prst="rect">
            <a:avLst/>
          </a:prstGeom>
          <a:solidFill>
            <a:srgbClr val="FFFAF4"/>
          </a:solidFill>
          <a:ln w="12700">
            <a:solidFill>
              <a:srgbClr val="F2C6A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3364992" y="2834640"/>
            <a:ext cx="2633472" cy="292608"/>
          </a:xfrm>
          <a:prstGeom prst="rect">
            <a:avLst/>
          </a:prstGeom>
          <a:solidFill>
            <a:srgbClr val="9C7A4A"/>
          </a:solidFill>
          <a:ln w="12700">
            <a:solidFill>
              <a:srgbClr val="9C7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3456432" y="2834640"/>
            <a:ext cx="2450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/ sys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56432" y="3163824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9C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Utilidades del Sistema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56432" y="3419856"/>
            <a:ext cx="245059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de terminal, manejo de rutas y configuración del entorno de ejecución.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17920" y="2834640"/>
            <a:ext cx="2633472" cy="1508760"/>
          </a:xfrm>
          <a:prstGeom prst="rect">
            <a:avLst/>
          </a:prstGeom>
          <a:solidFill>
            <a:srgbClr val="FFFAF4"/>
          </a:solidFill>
          <a:ln w="12700">
            <a:solidFill>
              <a:srgbClr val="F2C6A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6217920" y="2834640"/>
            <a:ext cx="2633472" cy="2926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6309360" y="2834640"/>
            <a:ext cx="2450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Pattern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09360" y="3163824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09360" y="3419856"/>
            <a:ext cx="245059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entre la vista (Tkinter), el </a:t>
            </a:r>
            <a:r>
              <a:rPr lang="en-US" sz="1050" dirty="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r>
              <a:rPr lang="en-US" sz="10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(MySQL) y los controladores (Python).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274320" y="4965192"/>
            <a:ext cx="859536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AUTOFACTORY  |  Sistema de Gestión Automotriz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256032" y="0"/>
            <a:ext cx="8887968" cy="914400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502920" y="1371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Arquitectura del Sistema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06040" cy="3730752"/>
          </a:xfrm>
          <a:prstGeom prst="rect">
            <a:avLst/>
          </a:prstGeom>
          <a:solidFill>
            <a:srgbClr val="FFFAF4"/>
          </a:solidFill>
          <a:ln w="12700">
            <a:solidFill>
              <a:srgbClr val="F2C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06040" cy="566928"/>
          </a:xfrm>
          <a:prstGeom prst="rect">
            <a:avLst/>
          </a:prstGeom>
          <a:solidFill>
            <a:srgbClr val="D4845A"/>
          </a:solidFill>
          <a:ln w="12700">
            <a:solidFill>
              <a:srgbClr val="D484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530352" y="1005840"/>
            <a:ext cx="2459736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PRESENTACIÓN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30352" y="1335024"/>
            <a:ext cx="245973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GUI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" y="1847088"/>
            <a:ext cx="182880" cy="182880"/>
          </a:xfrm>
          <a:prstGeom prst="ellipse">
            <a:avLst/>
          </a:prstGeom>
          <a:solidFill>
            <a:srgbClr val="D4845A"/>
          </a:solidFill>
          <a:ln w="12700">
            <a:solidFill>
              <a:srgbClr val="D484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877824" y="1719072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principal (Tk)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" y="2505456"/>
            <a:ext cx="182880" cy="182880"/>
          </a:xfrm>
          <a:prstGeom prst="ellipse">
            <a:avLst/>
          </a:prstGeom>
          <a:solidFill>
            <a:srgbClr val="D4845A"/>
          </a:solidFill>
          <a:ln w="12700">
            <a:solidFill>
              <a:srgbClr val="D484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877824" y="2377440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/ Pestañas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" y="3163824"/>
            <a:ext cx="182880" cy="182880"/>
          </a:xfrm>
          <a:prstGeom prst="ellipse">
            <a:avLst/>
          </a:prstGeom>
          <a:solidFill>
            <a:srgbClr val="D4845A"/>
          </a:solidFill>
          <a:ln w="12700">
            <a:solidFill>
              <a:srgbClr val="D484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877824" y="3035808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 por módulo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" y="3822192"/>
            <a:ext cx="182880" cy="182880"/>
          </a:xfrm>
          <a:prstGeom prst="ellipse">
            <a:avLst/>
          </a:prstGeom>
          <a:solidFill>
            <a:srgbClr val="D4845A"/>
          </a:solidFill>
          <a:ln w="12700">
            <a:solidFill>
              <a:srgbClr val="D484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877824" y="3694176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Botones CRUD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063240" y="2697480"/>
            <a:ext cx="576072" cy="54864"/>
          </a:xfrm>
          <a:prstGeom prst="rect">
            <a:avLst/>
          </a:prstGeom>
          <a:solidFill>
            <a:srgbClr val="F2C6A0"/>
          </a:solidFill>
          <a:ln w="12700">
            <a:solidFill>
              <a:srgbClr val="F2C6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3557016" y="2615184"/>
            <a:ext cx="82296" cy="219456"/>
          </a:xfrm>
          <a:prstGeom prst="rect">
            <a:avLst/>
          </a:prstGeom>
          <a:solidFill>
            <a:srgbClr val="F2C6A0"/>
          </a:solidFill>
          <a:ln w="12700">
            <a:solidFill>
              <a:srgbClr val="F2C6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3291840" y="1005840"/>
            <a:ext cx="2606040" cy="3730752"/>
          </a:xfrm>
          <a:prstGeom prst="rect">
            <a:avLst/>
          </a:prstGeom>
          <a:solidFill>
            <a:srgbClr val="FFFAF4"/>
          </a:solidFill>
          <a:ln w="12700">
            <a:solidFill>
              <a:srgbClr val="F2C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3291840" y="1005840"/>
            <a:ext cx="26060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3364992" y="1005840"/>
            <a:ext cx="2459736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NEGOCIO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64992" y="1335024"/>
            <a:ext cx="245973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Controllers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56432" y="1847088"/>
            <a:ext cx="182880" cy="18288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3712464" y="1719072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 de datos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456432" y="2505456"/>
            <a:ext cx="182880" cy="18288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3712464" y="2377440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formularios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456432" y="3163824"/>
            <a:ext cx="182880" cy="18288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3712464" y="3035808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eventos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456432" y="3822192"/>
            <a:ext cx="182880" cy="18288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3712464" y="3694176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entre módulos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897880" y="2697480"/>
            <a:ext cx="576072" cy="54864"/>
          </a:xfrm>
          <a:prstGeom prst="rect">
            <a:avLst/>
          </a:prstGeom>
          <a:solidFill>
            <a:srgbClr val="F2C6A0"/>
          </a:solidFill>
          <a:ln w="12700">
            <a:solidFill>
              <a:srgbClr val="F2C6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Shape 30"/>
          <p:cNvSpPr/>
          <p:nvPr/>
        </p:nvSpPr>
        <p:spPr>
          <a:xfrm>
            <a:off x="6391656" y="2615184"/>
            <a:ext cx="82296" cy="219456"/>
          </a:xfrm>
          <a:prstGeom prst="rect">
            <a:avLst/>
          </a:prstGeom>
          <a:solidFill>
            <a:srgbClr val="F2C6A0"/>
          </a:solidFill>
          <a:ln w="12700">
            <a:solidFill>
              <a:srgbClr val="F2C6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Shape 31"/>
          <p:cNvSpPr/>
          <p:nvPr/>
        </p:nvSpPr>
        <p:spPr>
          <a:xfrm>
            <a:off x="6126480" y="1005840"/>
            <a:ext cx="2606040" cy="3730752"/>
          </a:xfrm>
          <a:prstGeom prst="rect">
            <a:avLst/>
          </a:prstGeom>
          <a:solidFill>
            <a:srgbClr val="FFFAF4"/>
          </a:solidFill>
          <a:ln w="12700">
            <a:solidFill>
              <a:srgbClr val="F2C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4" name="Shape 32"/>
          <p:cNvSpPr/>
          <p:nvPr/>
        </p:nvSpPr>
        <p:spPr>
          <a:xfrm>
            <a:off x="6126480" y="1005840"/>
            <a:ext cx="2606040" cy="566928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6199632" y="1005840"/>
            <a:ext cx="2459736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DATOS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199632" y="1335024"/>
            <a:ext cx="245973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+ Stored Procs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91072" y="1847088"/>
            <a:ext cx="182880" cy="182880"/>
          </a:xfrm>
          <a:prstGeom prst="ellipse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/>
          <p:nvPr/>
        </p:nvSpPr>
        <p:spPr>
          <a:xfrm>
            <a:off x="6547104" y="1719072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relacionadas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291072" y="2505456"/>
            <a:ext cx="182880" cy="182880"/>
          </a:xfrm>
          <a:prstGeom prst="ellipse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6547104" y="2377440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291072" y="3163824"/>
            <a:ext cx="182880" cy="182880"/>
          </a:xfrm>
          <a:prstGeom prst="ellipse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2" name="Text 40"/>
          <p:cNvSpPr/>
          <p:nvPr/>
        </p:nvSpPr>
        <p:spPr>
          <a:xfrm>
            <a:off x="6547104" y="3035808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CRUD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291072" y="3822192"/>
            <a:ext cx="182880" cy="182880"/>
          </a:xfrm>
          <a:prstGeom prst="ellipse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4" name="Text 42"/>
          <p:cNvSpPr/>
          <p:nvPr/>
        </p:nvSpPr>
        <p:spPr>
          <a:xfrm>
            <a:off x="6547104" y="3694176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 referencial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57200" y="4572000"/>
            <a:ext cx="8321040" cy="292608"/>
          </a:xfrm>
          <a:prstGeom prst="rect">
            <a:avLst/>
          </a:prstGeom>
          <a:solidFill>
            <a:srgbClr val="E7E8D1"/>
          </a:solidFill>
          <a:ln w="12700">
            <a:solidFill>
              <a:srgbClr val="F2C6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6" name="Text 44"/>
          <p:cNvSpPr/>
          <p:nvPr/>
        </p:nvSpPr>
        <p:spPr>
          <a:xfrm>
            <a:off x="457200" y="457200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4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1: Modelos   ·   Módulo 2: Líneas   ·   Módulo 3: Componentes   ·   Módulo 4: Órdenes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8" name="Text 46"/>
          <p:cNvSpPr/>
          <p:nvPr/>
        </p:nvSpPr>
        <p:spPr>
          <a:xfrm>
            <a:off x="274320" y="4965192"/>
            <a:ext cx="859536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AUTOFACTORY  |  Sistema de Gestión Automotriz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B85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3200400"/>
            <a:ext cx="4114800" cy="4114800"/>
          </a:xfrm>
          <a:prstGeom prst="ellipse">
            <a:avLst/>
          </a:prstGeom>
          <a:solidFill>
            <a:srgbClr val="D4845A">
              <a:alpha val="22000"/>
            </a:srgbClr>
          </a:solidFill>
          <a:ln w="12700">
            <a:solidFill>
              <a:srgbClr val="D4845A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-914400" y="-457200"/>
            <a:ext cx="2743200" cy="2743200"/>
          </a:xfrm>
          <a:prstGeom prst="ellipse">
            <a:avLst/>
          </a:prstGeom>
          <a:solidFill>
            <a:srgbClr val="6B4226">
              <a:alpha val="35000"/>
            </a:srgbClr>
          </a:solidFill>
          <a:ln w="12700">
            <a:solidFill>
              <a:srgbClr val="6B4226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50292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7E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Conclusiones y Aprendizajes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3200400" cy="36576"/>
          </a:xfrm>
          <a:prstGeom prst="rect">
            <a:avLst/>
          </a:prstGeom>
          <a:solidFill>
            <a:srgbClr val="F2C6A0"/>
          </a:solidFill>
          <a:ln w="12700">
            <a:solidFill>
              <a:srgbClr val="F2C6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84048" cy="384048"/>
          </a:xfrm>
          <a:prstGeom prst="ellipse">
            <a:avLst/>
          </a:prstGeom>
          <a:solidFill>
            <a:srgbClr val="D4845A"/>
          </a:solidFill>
          <a:ln w="12700">
            <a:solidFill>
              <a:srgbClr val="D484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1430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C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Tecnológica: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41732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combinación de Python + Tkinter + MySQL demuestra que es posible construir aplicaciones de gestión robustas sin frameworks externos.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029968"/>
            <a:ext cx="384048" cy="384048"/>
          </a:xfrm>
          <a:prstGeom prst="ellipse">
            <a:avLst/>
          </a:prstGeom>
          <a:solidFill>
            <a:srgbClr val="D4845A"/>
          </a:solidFill>
          <a:ln w="12700">
            <a:solidFill>
              <a:srgbClr val="D484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57200" y="20299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1892808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C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167128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Vincular la interfaz gráfica a stored procedures mejora la seguridad, la reutilización y el mantenimiento del código de acceso a datos.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779776"/>
            <a:ext cx="384048" cy="384048"/>
          </a:xfrm>
          <a:prstGeom prst="ellipse">
            <a:avLst/>
          </a:prstGeom>
          <a:solidFill>
            <a:srgbClr val="D4845A"/>
          </a:solidFill>
          <a:ln w="12700">
            <a:solidFill>
              <a:srgbClr val="D484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57200" y="27797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264261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C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Modular: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916936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estructura en pestañas facilita la escalabilidad: agregar nuevos módulos no impacta los existentes.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529584"/>
            <a:ext cx="384048" cy="384048"/>
          </a:xfrm>
          <a:prstGeom prst="ellipse">
            <a:avLst/>
          </a:prstGeom>
          <a:solidFill>
            <a:srgbClr val="D4845A"/>
          </a:solidFill>
          <a:ln w="12700">
            <a:solidFill>
              <a:srgbClr val="D484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57200" y="35295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339242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C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 Referencial: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366674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las relaciones entre módulos (Órdenes ↔ Modelos ↔ Líneas ↔ Componentes) fue clave para garantizar datos consistentes.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279392"/>
            <a:ext cx="384048" cy="384048"/>
          </a:xfrm>
          <a:prstGeom prst="ellipse">
            <a:avLst/>
          </a:prstGeom>
          <a:solidFill>
            <a:srgbClr val="D4845A"/>
          </a:solidFill>
          <a:ln w="12700">
            <a:solidFill>
              <a:srgbClr val="D484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57200" y="4279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414223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C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de Usuario: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441655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interfaz gráfica con Tkinter demuestra que Python es apto para aplicaciones de escritorio empresariales funcionales.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6B4226">
              <a:alpha val="80000"/>
            </a:srgbClr>
          </a:solidFill>
          <a:ln w="12700">
            <a:solidFill>
              <a:srgbClr val="6B422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274320" y="4965192"/>
            <a:ext cx="859536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2C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AUTOFACTORY  ·  Gestión Automotriz Inteligente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553</Words>
  <Application>Microsoft Office PowerPoint</Application>
  <PresentationFormat>Presentación en pantalla (16:9)</PresentationFormat>
  <Paragraphs>93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Autofactory - Sistema de Gestión Automotriz</dc:title>
  <dc:subject>PptxGenJS Presentation</dc:subject>
  <dc:creator>PptxGenJS</dc:creator>
  <cp:lastModifiedBy>Diego Leon Escobar Velez</cp:lastModifiedBy>
  <cp:revision>2</cp:revision>
  <dcterms:created xsi:type="dcterms:W3CDTF">2026-03-16T00:45:13Z</dcterms:created>
  <dcterms:modified xsi:type="dcterms:W3CDTF">2026-03-16T01:53:47Z</dcterms:modified>
</cp:coreProperties>
</file>